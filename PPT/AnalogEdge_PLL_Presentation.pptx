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57dd4da-4ec9-7156-f578-ead4bc03a783}">
          <p14:sldIdLst>
            <p14:sldId id="256"/>
          </p14:sldIdLst>
        </p14:section>
        <p14:section name="Method" id="{a2e02e99-bfc9-e16c-4a21-f573a27384c3}">
          <p14:sldIdLst>
            <p14:sldId id="257"/>
            <p14:sldId id="258"/>
            <p14:sldId id="259"/>
          </p14:sldIdLst>
        </p14:section>
        <p14:section name="Results" id="{98980954-4a6f-ab52-e294-24de76f6d69c}">
          <p14:sldIdLst>
            <p14:sldId id="260"/>
            <p14:sldId id="261"/>
            <p14:sldId id="262"/>
            <p14:sldId id="263"/>
          </p14:sldIdLst>
        </p14:section>
        <p14:section name="Conclusions" id="{6352b7cc-07cd-18e9-cbb3-54d6fb7a68b6}">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builds and studies a charge-pump PLL that turns a 10 MHz reference into a 100 MHz clock. I modeled each block, simulated lock behavior, swept bandwidth and damping, studied jitter, and wrote integration guidelines.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has four phases. Phases 1 and 2 are the model and the lock simulation. Phase 3 is the sweeps and jitter. Phase 4 is the written guidelines and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PFD compares the reference with the divided VCO clock. The charge pump converts the timing error into current, the loop filter turns it into a control voltage, and the VCO changes frequency. The divider brings 100 MHz back to 10 MHz for the comparison. I define lock as phase error under 0.3 ns for 30 consecutive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frequency follows from Icp, Kvco, N and C. R is chosen for a damping of 0.7. These values give 356 kHz natural frequency and 65 degrees of phase margin. Starting the VCO at 90 MHz shows the full lock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plot is VCO frequency, middle is control voltage, bottom is phase error. At 30 microseconds the reference steps to 10.5 MHz and the PLL re-locks in about 2 microseconds. At 50 microseconds a 20 mV disturbance moves the output by 1 MHz and the loop recovers in about 1.5 microseconds. Lock time depends on the definition, which is why the report states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from the time-domain simulation, starting at 90 MHz. Lock time scales inversely with bandwidth. Overshoot and phase margin stay the same because damping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plot is overshoot, middle is settling time, right is phase margin, all against damping factor at the baseline bandwidth. A damping of 0.7 gives the fastest settling. Values from 0.7 to 1.0 balance speed and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jitter has two parts. VCO noise is suppressed by a wide loop. Reference noise is passed by a wide loop and is multiplied by N squared. The total has a minimum near 640 kHz. The noise levels are assumed values, so the absolute picoseconds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recommendations come directly from the sweeps: the bandwidth range from the jitter minimum and the validity of the model, the damping range from overshoot and margin, and the layout advice from the fact that 20 mV on the control line moves the output by 1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PLL meets the lock-time targets and the sweeps give a clear design window. Before using this design in a product, charge-pump non-idealities, a second filter pole and process, voltage and temperature corners must be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325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AnalogEdge  |  PLL Behavioral Modeling and Verification</a:t>
            </a:r>
            <a:endParaRPr lang="en-US" sz="1000" dirty="0"/>
          </a:p>
        </p:txBody>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432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tat chip"/>
          <p:cNvSpPr/>
          <p:nvPr/>
        </p:nvSpPr>
        <p:spPr>
          <a:xfrm>
            <a:off x="548640" y="3429000"/>
            <a:ext cx="3017520" cy="914400"/>
          </a:xfrm>
          <a:prstGeom prst="roundRect">
            <a:avLst>
              <a:gd name="adj" fmla="val 12000"/>
            </a:avLst>
          </a:prstGeom>
          <a:solidFill>
            <a:schemeClr val="accent1"/>
          </a:solidFill>
          <a:ln w="12700">
            <a:solidFill>
              <a:schemeClr val="accent1"/>
            </a:solidFill>
            <a:prstDash val="solid"/>
          </a:ln>
        </p:spPr>
      </p:sp>
      <p:sp>
        <p:nvSpPr>
          <p:cNvPr id="3" name="Stat text"/>
          <p:cNvSpPr txBox="1"/>
          <p:nvPr/>
        </p:nvSpPr>
        <p:spPr>
          <a:xfrm>
            <a:off x="548640" y="3429000"/>
            <a:ext cx="3017520" cy="91440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10 MHz  to  100 MHz</a:t>
            </a:r>
            <a:endParaRPr lang="en-US" sz="1400" dirty="0"/>
          </a:p>
          <a:p>
            <a:pPr algn="ctr" indent="0" marL="0">
              <a:buNone/>
            </a:pPr>
            <a:r>
              <a:rPr lang="en-US" sz="1200" dirty="0">
                <a:solidFill>
                  <a:schemeClr val="bg1"/>
                </a:solidFill>
                <a:latin typeface="Calibri" pitchFamily="34" charset="0"/>
                <a:ea typeface="Calibri" pitchFamily="34" charset="-122"/>
                <a:cs typeface="Calibri" pitchFamily="34" charset="-120"/>
              </a:rPr>
              <a:t>reference in, divide-by-10 PLL</a:t>
            </a:r>
            <a:endParaRPr lang="en-US" sz="1400" dirty="0"/>
          </a:p>
        </p:txBody>
      </p:sp>
      <p:sp>
        <p:nvSpPr>
          <p:cNvPr id="4" name="Kicker"/>
          <p:cNvSpPr txBox="1"/>
          <p:nvPr/>
        </p:nvSpPr>
        <p:spPr>
          <a:xfrm>
            <a:off x="548640" y="640080"/>
            <a:ext cx="8046720" cy="45720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AnalogEdge</a:t>
            </a:r>
            <a:endParaRPr lang="en-US" sz="2000" dirty="0"/>
          </a:p>
        </p:txBody>
      </p:sp>
      <p:sp>
        <p:nvSpPr>
          <p:cNvPr id="5" name="Title"/>
          <p:cNvSpPr txBox="1"/>
          <p:nvPr/>
        </p:nvSpPr>
        <p:spPr>
          <a:xfrm>
            <a:off x="548640" y="1051560"/>
            <a:ext cx="8046720" cy="132588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PLL Behavioral Modeling and Verification</a:t>
            </a:r>
            <a:endParaRPr lang="en-US" sz="4000" dirty="0"/>
          </a:p>
        </p:txBody>
      </p:sp>
      <p:sp>
        <p:nvSpPr>
          <p:cNvPr id="6" name="Subtitle"/>
          <p:cNvSpPr txBox="1"/>
          <p:nvPr/>
        </p:nvSpPr>
        <p:spPr>
          <a:xfrm>
            <a:off x="548640" y="2560320"/>
            <a:ext cx="8046720" cy="45720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Lock-time analysis, jitter sensitivity and integration guidelines</a:t>
            </a:r>
            <a:endParaRPr lang="en-US" sz="1800" dirty="0"/>
          </a:p>
        </p:txBody>
      </p:sp>
      <p:sp>
        <p:nvSpPr>
          <p:cNvPr id="7" name="Course"/>
          <p:cNvSpPr txBox="1"/>
          <p:nvPr/>
        </p:nvSpPr>
        <p:spPr>
          <a:xfrm>
            <a:off x="4023360" y="3703320"/>
            <a:ext cx="4572000" cy="36576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Persevex VLSI Course  |  Project 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What the project covers</a:t>
            </a:r>
            <a:endParaRPr lang="en-US" sz="2800" dirty="0"/>
          </a:p>
        </p:txBody>
      </p:sp>
      <p:sp>
        <p:nvSpPr>
          <p:cNvPr id="3" name="Card 1"/>
          <p:cNvSpPr/>
          <p:nvPr/>
        </p:nvSpPr>
        <p:spPr>
          <a:xfrm>
            <a:off x="457200" y="1234440"/>
            <a:ext cx="4023360" cy="1508760"/>
          </a:xfrm>
          <a:prstGeom prst="roundRect">
            <a:avLst>
              <a:gd name="adj" fmla="val 6061"/>
            </a:avLst>
          </a:prstGeom>
          <a:solidFill>
            <a:schemeClr val="bg2"/>
          </a:solidFill>
          <a:ln w="12700">
            <a:solidFill>
              <a:schemeClr val="bg2"/>
            </a:solidFill>
            <a:prstDash val="solid"/>
          </a:ln>
        </p:spPr>
      </p:sp>
      <p:sp>
        <p:nvSpPr>
          <p:cNvPr id="4" name="Badge 1"/>
          <p:cNvSpPr/>
          <p:nvPr/>
        </p:nvSpPr>
        <p:spPr>
          <a:xfrm>
            <a:off x="640080" y="1417320"/>
            <a:ext cx="502920" cy="502920"/>
          </a:xfrm>
          <a:prstGeom prst="ellipse">
            <a:avLst/>
          </a:prstGeom>
          <a:solidFill>
            <a:schemeClr val="accent1"/>
          </a:solidFill>
          <a:ln w="12700">
            <a:solidFill>
              <a:schemeClr val="accent1"/>
            </a:solidFill>
            <a:prstDash val="solid"/>
          </a:ln>
        </p:spPr>
      </p:sp>
      <p:sp>
        <p:nvSpPr>
          <p:cNvPr id="5" name="Badge number 1"/>
          <p:cNvSpPr txBox="1"/>
          <p:nvPr/>
        </p:nvSpPr>
        <p:spPr>
          <a:xfrm>
            <a:off x="640080" y="1417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Card title 1"/>
          <p:cNvSpPr txBox="1"/>
          <p:nvPr/>
        </p:nvSpPr>
        <p:spPr>
          <a:xfrm>
            <a:off x="1325880" y="1417320"/>
            <a:ext cx="3017520" cy="5029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Block modeling</a:t>
            </a:r>
            <a:endParaRPr lang="en-US" sz="1800" dirty="0"/>
          </a:p>
        </p:txBody>
      </p:sp>
      <p:sp>
        <p:nvSpPr>
          <p:cNvPr id="7" name="Card text 1"/>
          <p:cNvSpPr txBox="1"/>
          <p:nvPr/>
        </p:nvSpPr>
        <p:spPr>
          <a:xfrm>
            <a:off x="685800" y="2039112"/>
            <a:ext cx="36118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PFD, charge pump, loop filter, VCO and divider. Target 100 MHz, lock rule defined.</a:t>
            </a:r>
            <a:endParaRPr lang="en-US" sz="1400" dirty="0"/>
          </a:p>
        </p:txBody>
      </p:sp>
      <p:sp>
        <p:nvSpPr>
          <p:cNvPr id="8" name="Card 2"/>
          <p:cNvSpPr/>
          <p:nvPr/>
        </p:nvSpPr>
        <p:spPr>
          <a:xfrm>
            <a:off x="4663440" y="1234440"/>
            <a:ext cx="4023360" cy="1508760"/>
          </a:xfrm>
          <a:prstGeom prst="roundRect">
            <a:avLst>
              <a:gd name="adj" fmla="val 6061"/>
            </a:avLst>
          </a:prstGeom>
          <a:solidFill>
            <a:schemeClr val="bg2"/>
          </a:solidFill>
          <a:ln w="12700">
            <a:solidFill>
              <a:schemeClr val="bg2"/>
            </a:solidFill>
            <a:prstDash val="solid"/>
          </a:ln>
        </p:spPr>
      </p:sp>
      <p:sp>
        <p:nvSpPr>
          <p:cNvPr id="9" name="Badge 2"/>
          <p:cNvSpPr/>
          <p:nvPr/>
        </p:nvSpPr>
        <p:spPr>
          <a:xfrm>
            <a:off x="4846320" y="1417320"/>
            <a:ext cx="502920" cy="502920"/>
          </a:xfrm>
          <a:prstGeom prst="ellipse">
            <a:avLst/>
          </a:prstGeom>
          <a:solidFill>
            <a:schemeClr val="accent1"/>
          </a:solidFill>
          <a:ln w="12700">
            <a:solidFill>
              <a:schemeClr val="accent1"/>
            </a:solidFill>
            <a:prstDash val="solid"/>
          </a:ln>
        </p:spPr>
      </p:sp>
      <p:sp>
        <p:nvSpPr>
          <p:cNvPr id="10" name="Badge number 2"/>
          <p:cNvSpPr txBox="1"/>
          <p:nvPr/>
        </p:nvSpPr>
        <p:spPr>
          <a:xfrm>
            <a:off x="4846320" y="1417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1" name="Card title 2"/>
          <p:cNvSpPr txBox="1"/>
          <p:nvPr/>
        </p:nvSpPr>
        <p:spPr>
          <a:xfrm>
            <a:off x="5532120" y="1417320"/>
            <a:ext cx="3017520" cy="5029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Dynamic simulation</a:t>
            </a:r>
            <a:endParaRPr lang="en-US" sz="1800" dirty="0"/>
          </a:p>
        </p:txBody>
      </p:sp>
      <p:sp>
        <p:nvSpPr>
          <p:cNvPr id="12" name="Card text 2"/>
          <p:cNvSpPr txBox="1"/>
          <p:nvPr/>
        </p:nvSpPr>
        <p:spPr>
          <a:xfrm>
            <a:off x="4892040" y="2039112"/>
            <a:ext cx="36118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Lock time, frequency settling and phase error under a reference step and a disturbance.</a:t>
            </a:r>
            <a:endParaRPr lang="en-US" sz="1400" dirty="0"/>
          </a:p>
        </p:txBody>
      </p:sp>
      <p:sp>
        <p:nvSpPr>
          <p:cNvPr id="13" name="Card 3"/>
          <p:cNvSpPr/>
          <p:nvPr/>
        </p:nvSpPr>
        <p:spPr>
          <a:xfrm>
            <a:off x="457200" y="2926080"/>
            <a:ext cx="4023360" cy="1508760"/>
          </a:xfrm>
          <a:prstGeom prst="roundRect">
            <a:avLst>
              <a:gd name="adj" fmla="val 6061"/>
            </a:avLst>
          </a:prstGeom>
          <a:solidFill>
            <a:schemeClr val="bg2"/>
          </a:solidFill>
          <a:ln w="12700">
            <a:solidFill>
              <a:schemeClr val="bg2"/>
            </a:solidFill>
            <a:prstDash val="solid"/>
          </a:ln>
        </p:spPr>
      </p:sp>
      <p:sp>
        <p:nvSpPr>
          <p:cNvPr id="14" name="Badge 3"/>
          <p:cNvSpPr/>
          <p:nvPr/>
        </p:nvSpPr>
        <p:spPr>
          <a:xfrm>
            <a:off x="640080" y="3108960"/>
            <a:ext cx="502920" cy="502920"/>
          </a:xfrm>
          <a:prstGeom prst="ellipse">
            <a:avLst/>
          </a:prstGeom>
          <a:solidFill>
            <a:schemeClr val="accent1"/>
          </a:solidFill>
          <a:ln w="12700">
            <a:solidFill>
              <a:schemeClr val="accent1"/>
            </a:solidFill>
            <a:prstDash val="solid"/>
          </a:ln>
        </p:spPr>
      </p:sp>
      <p:sp>
        <p:nvSpPr>
          <p:cNvPr id="15" name="Badge number 3"/>
          <p:cNvSpPr txBox="1"/>
          <p:nvPr/>
        </p:nvSpPr>
        <p:spPr>
          <a:xfrm>
            <a:off x="640080" y="3108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6" name="Card title 3"/>
          <p:cNvSpPr txBox="1"/>
          <p:nvPr/>
        </p:nvSpPr>
        <p:spPr>
          <a:xfrm>
            <a:off x="1325880" y="3108960"/>
            <a:ext cx="3017520" cy="5029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Noise and jitter</a:t>
            </a:r>
            <a:endParaRPr lang="en-US" sz="1800" dirty="0"/>
          </a:p>
        </p:txBody>
      </p:sp>
      <p:sp>
        <p:nvSpPr>
          <p:cNvPr id="17" name="Card text 3"/>
          <p:cNvSpPr txBox="1"/>
          <p:nvPr/>
        </p:nvSpPr>
        <p:spPr>
          <a:xfrm>
            <a:off x="685800" y="3730752"/>
            <a:ext cx="36118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Sweeps of loop bandwidth and damping; jitter and stability trade-offs.</a:t>
            </a:r>
            <a:endParaRPr lang="en-US" sz="1400" dirty="0"/>
          </a:p>
        </p:txBody>
      </p:sp>
      <p:sp>
        <p:nvSpPr>
          <p:cNvPr id="18" name="Card 4"/>
          <p:cNvSpPr/>
          <p:nvPr/>
        </p:nvSpPr>
        <p:spPr>
          <a:xfrm>
            <a:off x="4663440" y="2926080"/>
            <a:ext cx="4023360" cy="1508760"/>
          </a:xfrm>
          <a:prstGeom prst="roundRect">
            <a:avLst>
              <a:gd name="adj" fmla="val 6061"/>
            </a:avLst>
          </a:prstGeom>
          <a:solidFill>
            <a:schemeClr val="bg2"/>
          </a:solidFill>
          <a:ln w="12700">
            <a:solidFill>
              <a:schemeClr val="bg2"/>
            </a:solidFill>
            <a:prstDash val="solid"/>
          </a:ln>
        </p:spPr>
      </p:sp>
      <p:sp>
        <p:nvSpPr>
          <p:cNvPr id="19" name="Badge 4"/>
          <p:cNvSpPr/>
          <p:nvPr/>
        </p:nvSpPr>
        <p:spPr>
          <a:xfrm>
            <a:off x="4846320" y="3108960"/>
            <a:ext cx="502920" cy="502920"/>
          </a:xfrm>
          <a:prstGeom prst="ellipse">
            <a:avLst/>
          </a:prstGeom>
          <a:solidFill>
            <a:schemeClr val="accent1"/>
          </a:solidFill>
          <a:ln w="12700">
            <a:solidFill>
              <a:schemeClr val="accent1"/>
            </a:solidFill>
            <a:prstDash val="solid"/>
          </a:ln>
        </p:spPr>
      </p:sp>
      <p:sp>
        <p:nvSpPr>
          <p:cNvPr id="20" name="Badge number 4"/>
          <p:cNvSpPr txBox="1"/>
          <p:nvPr/>
        </p:nvSpPr>
        <p:spPr>
          <a:xfrm>
            <a:off x="4846320" y="3108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21" name="Card title 4"/>
          <p:cNvSpPr txBox="1"/>
          <p:nvPr/>
        </p:nvSpPr>
        <p:spPr>
          <a:xfrm>
            <a:off x="5532120" y="3108960"/>
            <a:ext cx="3017520" cy="5029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Integration guidelines</a:t>
            </a:r>
            <a:endParaRPr lang="en-US" sz="1800" dirty="0"/>
          </a:p>
        </p:txBody>
      </p:sp>
      <p:sp>
        <p:nvSpPr>
          <p:cNvPr id="22" name="Card text 4"/>
          <p:cNvSpPr txBox="1"/>
          <p:nvPr/>
        </p:nvSpPr>
        <p:spPr>
          <a:xfrm>
            <a:off x="4892040" y="3730752"/>
            <a:ext cx="36118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Clocking recommendations, model limitations and assumptions.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How the PLL works</a:t>
            </a:r>
            <a:endParaRPr lang="en-US" sz="2800" dirty="0"/>
          </a:p>
        </p:txBody>
      </p:sp>
      <p:sp>
        <p:nvSpPr>
          <p:cNvPr id="3" name="Block PFD"/>
          <p:cNvSpPr/>
          <p:nvPr/>
        </p:nvSpPr>
        <p:spPr>
          <a:xfrm>
            <a:off x="525780" y="1325880"/>
            <a:ext cx="1645920" cy="1051560"/>
          </a:xfrm>
          <a:prstGeom prst="roundRect">
            <a:avLst>
              <a:gd name="adj" fmla="val 8696"/>
            </a:avLst>
          </a:prstGeom>
          <a:solidFill>
            <a:schemeClr val="tx2"/>
          </a:solidFill>
          <a:ln w="12700">
            <a:solidFill>
              <a:schemeClr val="tx2"/>
            </a:solidFill>
            <a:prstDash val="solid"/>
          </a:ln>
        </p:spPr>
      </p:sp>
      <p:sp>
        <p:nvSpPr>
          <p:cNvPr id="4" name="Block text PFD"/>
          <p:cNvSpPr txBox="1"/>
          <p:nvPr/>
        </p:nvSpPr>
        <p:spPr>
          <a:xfrm>
            <a:off x="598932" y="1325880"/>
            <a:ext cx="1499616" cy="10515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PFD</a:t>
            </a:r>
            <a:endParaRPr lang="en-US" sz="1400" dirty="0"/>
          </a:p>
          <a:p>
            <a:pPr algn="ctr" indent="0" marL="0">
              <a:buNone/>
            </a:pPr>
            <a:r>
              <a:rPr lang="en-US" sz="1200" dirty="0">
                <a:solidFill>
                  <a:schemeClr val="bg1"/>
                </a:solidFill>
                <a:latin typeface="Calibri" pitchFamily="34" charset="0"/>
                <a:ea typeface="Calibri" pitchFamily="34" charset="-122"/>
                <a:cs typeface="Calibri" pitchFamily="34" charset="-120"/>
              </a:rPr>
              <a:t>Which edge is early?</a:t>
            </a:r>
            <a:endParaRPr lang="en-US" sz="1400" dirty="0"/>
          </a:p>
        </p:txBody>
      </p:sp>
      <p:sp>
        <p:nvSpPr>
          <p:cNvPr id="5" name="Arrow 0"/>
          <p:cNvSpPr/>
          <p:nvPr/>
        </p:nvSpPr>
        <p:spPr>
          <a:xfrm>
            <a:off x="2208276" y="1851660"/>
            <a:ext cx="429768" cy="0"/>
          </a:xfrm>
          <a:prstGeom prst="line">
            <a:avLst/>
          </a:prstGeom>
          <a:noFill/>
          <a:ln w="25400">
            <a:solidFill>
              <a:schemeClr val="tx1"/>
            </a:solidFill>
            <a:prstDash val="solid"/>
            <a:tailEnd type="triangle"/>
          </a:ln>
        </p:spPr>
      </p:sp>
      <p:sp>
        <p:nvSpPr>
          <p:cNvPr id="6" name="Block Charge pump"/>
          <p:cNvSpPr/>
          <p:nvPr/>
        </p:nvSpPr>
        <p:spPr>
          <a:xfrm>
            <a:off x="2674620" y="1325880"/>
            <a:ext cx="1645920" cy="1051560"/>
          </a:xfrm>
          <a:prstGeom prst="roundRect">
            <a:avLst>
              <a:gd name="adj" fmla="val 8696"/>
            </a:avLst>
          </a:prstGeom>
          <a:solidFill>
            <a:schemeClr val="tx2"/>
          </a:solidFill>
          <a:ln w="12700">
            <a:solidFill>
              <a:schemeClr val="tx2"/>
            </a:solidFill>
            <a:prstDash val="solid"/>
          </a:ln>
        </p:spPr>
      </p:sp>
      <p:sp>
        <p:nvSpPr>
          <p:cNvPr id="7" name="Block text Charge pump"/>
          <p:cNvSpPr txBox="1"/>
          <p:nvPr/>
        </p:nvSpPr>
        <p:spPr>
          <a:xfrm>
            <a:off x="2747772" y="1325880"/>
            <a:ext cx="1499616" cy="10515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Charge pump</a:t>
            </a:r>
            <a:endParaRPr lang="en-US" sz="1400" dirty="0"/>
          </a:p>
          <a:p>
            <a:pPr algn="ctr" indent="0" marL="0">
              <a:buNone/>
            </a:pPr>
            <a:r>
              <a:rPr lang="en-US" sz="1200" dirty="0">
                <a:solidFill>
                  <a:schemeClr val="bg1"/>
                </a:solidFill>
                <a:latin typeface="Calibri" pitchFamily="34" charset="0"/>
                <a:ea typeface="Calibri" pitchFamily="34" charset="-122"/>
                <a:cs typeface="Calibri" pitchFamily="34" charset="-120"/>
              </a:rPr>
              <a:t>Turns error into current</a:t>
            </a:r>
            <a:endParaRPr lang="en-US" sz="1400" dirty="0"/>
          </a:p>
        </p:txBody>
      </p:sp>
      <p:sp>
        <p:nvSpPr>
          <p:cNvPr id="8" name="Arrow 1"/>
          <p:cNvSpPr/>
          <p:nvPr/>
        </p:nvSpPr>
        <p:spPr>
          <a:xfrm>
            <a:off x="4357116" y="1851660"/>
            <a:ext cx="429768" cy="0"/>
          </a:xfrm>
          <a:prstGeom prst="line">
            <a:avLst/>
          </a:prstGeom>
          <a:noFill/>
          <a:ln w="25400">
            <a:solidFill>
              <a:schemeClr val="tx1"/>
            </a:solidFill>
            <a:prstDash val="solid"/>
            <a:tailEnd type="triangle"/>
          </a:ln>
        </p:spPr>
      </p:sp>
      <p:sp>
        <p:nvSpPr>
          <p:cNvPr id="9" name="Block Loop filter"/>
          <p:cNvSpPr/>
          <p:nvPr/>
        </p:nvSpPr>
        <p:spPr>
          <a:xfrm>
            <a:off x="4823460" y="1325880"/>
            <a:ext cx="1645920" cy="1051560"/>
          </a:xfrm>
          <a:prstGeom prst="roundRect">
            <a:avLst>
              <a:gd name="adj" fmla="val 8696"/>
            </a:avLst>
          </a:prstGeom>
          <a:solidFill>
            <a:schemeClr val="tx2"/>
          </a:solidFill>
          <a:ln w="12700">
            <a:solidFill>
              <a:schemeClr val="tx2"/>
            </a:solidFill>
            <a:prstDash val="solid"/>
          </a:ln>
        </p:spPr>
      </p:sp>
      <p:sp>
        <p:nvSpPr>
          <p:cNvPr id="10" name="Block text Loop filter"/>
          <p:cNvSpPr txBox="1"/>
          <p:nvPr/>
        </p:nvSpPr>
        <p:spPr>
          <a:xfrm>
            <a:off x="4896612" y="1325880"/>
            <a:ext cx="1499616" cy="10515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Loop filter</a:t>
            </a:r>
            <a:endParaRPr lang="en-US" sz="1400" dirty="0"/>
          </a:p>
          <a:p>
            <a:pPr algn="ctr" indent="0" marL="0">
              <a:buNone/>
            </a:pPr>
            <a:r>
              <a:rPr lang="en-US" sz="1200" dirty="0">
                <a:solidFill>
                  <a:schemeClr val="bg1"/>
                </a:solidFill>
                <a:latin typeface="Calibri" pitchFamily="34" charset="0"/>
                <a:ea typeface="Calibri" pitchFamily="34" charset="-122"/>
                <a:cs typeface="Calibri" pitchFamily="34" charset="-120"/>
              </a:rPr>
              <a:t>R + C smooth it to a voltage</a:t>
            </a:r>
            <a:endParaRPr lang="en-US" sz="1400" dirty="0"/>
          </a:p>
        </p:txBody>
      </p:sp>
      <p:sp>
        <p:nvSpPr>
          <p:cNvPr id="11" name="Arrow 2"/>
          <p:cNvSpPr/>
          <p:nvPr/>
        </p:nvSpPr>
        <p:spPr>
          <a:xfrm>
            <a:off x="6505956" y="1851660"/>
            <a:ext cx="429768" cy="0"/>
          </a:xfrm>
          <a:prstGeom prst="line">
            <a:avLst/>
          </a:prstGeom>
          <a:noFill/>
          <a:ln w="25400">
            <a:solidFill>
              <a:schemeClr val="tx1"/>
            </a:solidFill>
            <a:prstDash val="solid"/>
            <a:tailEnd type="triangle"/>
          </a:ln>
        </p:spPr>
      </p:sp>
      <p:sp>
        <p:nvSpPr>
          <p:cNvPr id="12" name="Block VCO"/>
          <p:cNvSpPr/>
          <p:nvPr/>
        </p:nvSpPr>
        <p:spPr>
          <a:xfrm>
            <a:off x="6972300" y="1325880"/>
            <a:ext cx="1645920" cy="1051560"/>
          </a:xfrm>
          <a:prstGeom prst="roundRect">
            <a:avLst>
              <a:gd name="adj" fmla="val 8696"/>
            </a:avLst>
          </a:prstGeom>
          <a:solidFill>
            <a:schemeClr val="accent1"/>
          </a:solidFill>
          <a:ln w="12700">
            <a:solidFill>
              <a:schemeClr val="accent1"/>
            </a:solidFill>
            <a:prstDash val="solid"/>
          </a:ln>
        </p:spPr>
      </p:sp>
      <p:sp>
        <p:nvSpPr>
          <p:cNvPr id="13" name="Block text VCO"/>
          <p:cNvSpPr txBox="1"/>
          <p:nvPr/>
        </p:nvSpPr>
        <p:spPr>
          <a:xfrm>
            <a:off x="7045452" y="1325880"/>
            <a:ext cx="1499616" cy="10515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VCO</a:t>
            </a:r>
            <a:endParaRPr lang="en-US" sz="1400" dirty="0"/>
          </a:p>
          <a:p>
            <a:pPr algn="ctr" indent="0" marL="0">
              <a:buNone/>
            </a:pPr>
            <a:r>
              <a:rPr lang="en-US" sz="1200" dirty="0">
                <a:solidFill>
                  <a:schemeClr val="bg1"/>
                </a:solidFill>
                <a:latin typeface="Calibri" pitchFamily="34" charset="0"/>
                <a:ea typeface="Calibri" pitchFamily="34" charset="-122"/>
                <a:cs typeface="Calibri" pitchFamily="34" charset="-120"/>
              </a:rPr>
              <a:t>Voltage sets the frequency</a:t>
            </a:r>
            <a:endParaRPr lang="en-US" sz="1400" dirty="0"/>
          </a:p>
        </p:txBody>
      </p:sp>
      <p:sp>
        <p:nvSpPr>
          <p:cNvPr id="14" name="Ref label"/>
          <p:cNvSpPr txBox="1"/>
          <p:nvPr/>
        </p:nvSpPr>
        <p:spPr>
          <a:xfrm>
            <a:off x="480060" y="1005840"/>
            <a:ext cx="1828800" cy="256032"/>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Reference 10 MHz</a:t>
            </a:r>
            <a:endParaRPr lang="en-US" sz="1200" dirty="0"/>
          </a:p>
        </p:txBody>
      </p:sp>
      <p:sp>
        <p:nvSpPr>
          <p:cNvPr id="15" name="Out label"/>
          <p:cNvSpPr txBox="1"/>
          <p:nvPr/>
        </p:nvSpPr>
        <p:spPr>
          <a:xfrm>
            <a:off x="6926580" y="1005840"/>
            <a:ext cx="1828800" cy="256032"/>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Output 100 MHz</a:t>
            </a:r>
            <a:endParaRPr lang="en-US" sz="1200" dirty="0"/>
          </a:p>
        </p:txBody>
      </p:sp>
      <p:sp>
        <p:nvSpPr>
          <p:cNvPr id="16" name="Block Divider"/>
          <p:cNvSpPr/>
          <p:nvPr/>
        </p:nvSpPr>
        <p:spPr>
          <a:xfrm>
            <a:off x="3291840" y="3154680"/>
            <a:ext cx="1828800" cy="731520"/>
          </a:xfrm>
          <a:prstGeom prst="roundRect">
            <a:avLst>
              <a:gd name="adj" fmla="val 12500"/>
            </a:avLst>
          </a:prstGeom>
          <a:solidFill>
            <a:schemeClr val="bg2"/>
          </a:solidFill>
          <a:ln w="19050">
            <a:solidFill>
              <a:schemeClr val="tx2"/>
            </a:solidFill>
            <a:prstDash val="solid"/>
          </a:ln>
        </p:spPr>
      </p:sp>
      <p:sp>
        <p:nvSpPr>
          <p:cNvPr id="17" name="Divider text"/>
          <p:cNvSpPr txBox="1"/>
          <p:nvPr/>
        </p:nvSpPr>
        <p:spPr>
          <a:xfrm>
            <a:off x="3291840" y="3154680"/>
            <a:ext cx="1828800" cy="73152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Divide by N = 10</a:t>
            </a:r>
            <a:endParaRPr lang="en-US" sz="1400" dirty="0"/>
          </a:p>
          <a:p>
            <a:pPr algn="ctr" indent="0" marL="0">
              <a:buNone/>
            </a:pPr>
            <a:r>
              <a:rPr lang="en-US" sz="1200" dirty="0">
                <a:solidFill>
                  <a:schemeClr val="tx1"/>
                </a:solidFill>
                <a:latin typeface="Calibri" pitchFamily="34" charset="0"/>
                <a:ea typeface="Calibri" pitchFamily="34" charset="-122"/>
                <a:cs typeface="Calibri" pitchFamily="34" charset="-120"/>
              </a:rPr>
              <a:t>100 MHz back to 10 MHz</a:t>
            </a:r>
            <a:endParaRPr lang="en-US" sz="1400" dirty="0"/>
          </a:p>
        </p:txBody>
      </p:sp>
      <p:sp>
        <p:nvSpPr>
          <p:cNvPr id="18" name="Feedback down"/>
          <p:cNvSpPr/>
          <p:nvPr/>
        </p:nvSpPr>
        <p:spPr>
          <a:xfrm>
            <a:off x="7795260" y="2377440"/>
            <a:ext cx="0" cy="1143000"/>
          </a:xfrm>
          <a:prstGeom prst="line">
            <a:avLst/>
          </a:prstGeom>
          <a:noFill/>
          <a:ln w="25400">
            <a:solidFill>
              <a:schemeClr val="tx1"/>
            </a:solidFill>
            <a:prstDash val="solid"/>
          </a:ln>
        </p:spPr>
      </p:sp>
      <p:sp>
        <p:nvSpPr>
          <p:cNvPr id="19" name="Feedback to divider"/>
          <p:cNvSpPr/>
          <p:nvPr/>
        </p:nvSpPr>
        <p:spPr>
          <a:xfrm>
            <a:off x="5120640" y="3520440"/>
            <a:ext cx="2674620" cy="0"/>
          </a:xfrm>
          <a:prstGeom prst="line">
            <a:avLst/>
          </a:prstGeom>
          <a:noFill/>
          <a:ln w="25400">
            <a:solidFill>
              <a:schemeClr val="tx1"/>
            </a:solidFill>
            <a:prstDash val="solid"/>
            <a:headEnd type="triangle"/>
          </a:ln>
        </p:spPr>
      </p:sp>
      <p:sp>
        <p:nvSpPr>
          <p:cNvPr id="20" name="Feedback left"/>
          <p:cNvSpPr/>
          <p:nvPr/>
        </p:nvSpPr>
        <p:spPr>
          <a:xfrm>
            <a:off x="1348740" y="3520440"/>
            <a:ext cx="1943100" cy="0"/>
          </a:xfrm>
          <a:prstGeom prst="line">
            <a:avLst/>
          </a:prstGeom>
          <a:noFill/>
          <a:ln w="25400">
            <a:solidFill>
              <a:schemeClr val="tx1"/>
            </a:solidFill>
            <a:prstDash val="solid"/>
          </a:ln>
        </p:spPr>
      </p:sp>
      <p:sp>
        <p:nvSpPr>
          <p:cNvPr id="21" name="Feedback up"/>
          <p:cNvSpPr/>
          <p:nvPr/>
        </p:nvSpPr>
        <p:spPr>
          <a:xfrm>
            <a:off x="1348740" y="2414016"/>
            <a:ext cx="0" cy="1106424"/>
          </a:xfrm>
          <a:prstGeom prst="line">
            <a:avLst/>
          </a:prstGeom>
          <a:noFill/>
          <a:ln w="25400">
            <a:solidFill>
              <a:schemeClr val="tx1"/>
            </a:solidFill>
            <a:prstDash val="solid"/>
            <a:headEnd type="triangle"/>
          </a:ln>
        </p:spPr>
      </p:sp>
      <p:sp>
        <p:nvSpPr>
          <p:cNvPr id="22" name="Lock rule"/>
          <p:cNvSpPr txBox="1"/>
          <p:nvPr/>
        </p:nvSpPr>
        <p:spPr>
          <a:xfrm>
            <a:off x="525780" y="4114800"/>
            <a:ext cx="8092440" cy="54864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Locked </a:t>
            </a:r>
            <a:pPr indent="0" marL="0">
              <a:buNone/>
            </a:pPr>
            <a:r>
              <a:rPr lang="en-US" sz="1600" dirty="0">
                <a:solidFill>
                  <a:schemeClr val="tx1"/>
                </a:solidFill>
                <a:latin typeface="Calibri" pitchFamily="34" charset="0"/>
                <a:ea typeface="Calibri" pitchFamily="34" charset="-122"/>
                <a:cs typeface="Calibri" pitchFamily="34" charset="-120"/>
              </a:rPr>
              <a:t>= phase error below 0.3 ns for 30 reference cycles, so the output is steady at 100 MHz.</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Baseline design values</a:t>
            </a:r>
            <a:endParaRPr lang="en-US" sz="2800" dirty="0"/>
          </a:p>
        </p:txBody>
      </p:sp>
      <p:sp>
        <p:nvSpPr>
          <p:cNvPr id="3" name="Stat card 1"/>
          <p:cNvSpPr/>
          <p:nvPr/>
        </p:nvSpPr>
        <p:spPr>
          <a:xfrm>
            <a:off x="457200" y="1234440"/>
            <a:ext cx="2011680" cy="1508760"/>
          </a:xfrm>
          <a:prstGeom prst="roundRect">
            <a:avLst>
              <a:gd name="adj" fmla="val 6061"/>
            </a:avLst>
          </a:prstGeom>
          <a:solidFill>
            <a:schemeClr val="bg2"/>
          </a:solidFill>
          <a:ln w="12700">
            <a:solidFill>
              <a:schemeClr val="bg2"/>
            </a:solidFill>
            <a:prstDash val="solid"/>
          </a:ln>
        </p:spPr>
      </p:sp>
      <p:sp>
        <p:nvSpPr>
          <p:cNvPr id="4" name="Stat value 1"/>
          <p:cNvSpPr txBox="1"/>
          <p:nvPr/>
        </p:nvSpPr>
        <p:spPr>
          <a:xfrm>
            <a:off x="457200" y="1463040"/>
            <a:ext cx="2011680" cy="64008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356 kHz</a:t>
            </a:r>
            <a:endParaRPr lang="en-US" sz="3200" dirty="0"/>
          </a:p>
        </p:txBody>
      </p:sp>
      <p:sp>
        <p:nvSpPr>
          <p:cNvPr id="5" name="Stat label 1"/>
          <p:cNvSpPr txBox="1"/>
          <p:nvPr/>
        </p:nvSpPr>
        <p:spPr>
          <a:xfrm>
            <a:off x="457200" y="2148840"/>
            <a:ext cx="2011680" cy="3657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natural frequency</a:t>
            </a:r>
            <a:endParaRPr lang="en-US" sz="1400" dirty="0"/>
          </a:p>
        </p:txBody>
      </p:sp>
      <p:sp>
        <p:nvSpPr>
          <p:cNvPr id="6" name="Stat card 2"/>
          <p:cNvSpPr/>
          <p:nvPr/>
        </p:nvSpPr>
        <p:spPr>
          <a:xfrm>
            <a:off x="2606040" y="1234440"/>
            <a:ext cx="2011680" cy="1508760"/>
          </a:xfrm>
          <a:prstGeom prst="roundRect">
            <a:avLst>
              <a:gd name="adj" fmla="val 6061"/>
            </a:avLst>
          </a:prstGeom>
          <a:solidFill>
            <a:schemeClr val="bg2"/>
          </a:solidFill>
          <a:ln w="12700">
            <a:solidFill>
              <a:schemeClr val="bg2"/>
            </a:solidFill>
            <a:prstDash val="solid"/>
          </a:ln>
        </p:spPr>
      </p:sp>
      <p:sp>
        <p:nvSpPr>
          <p:cNvPr id="7" name="Stat value 2"/>
          <p:cNvSpPr txBox="1"/>
          <p:nvPr/>
        </p:nvSpPr>
        <p:spPr>
          <a:xfrm>
            <a:off x="2606040" y="1463040"/>
            <a:ext cx="2011680" cy="64008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0.7</a:t>
            </a:r>
            <a:endParaRPr lang="en-US" sz="3200" dirty="0"/>
          </a:p>
        </p:txBody>
      </p:sp>
      <p:sp>
        <p:nvSpPr>
          <p:cNvPr id="8" name="Stat label 2"/>
          <p:cNvSpPr txBox="1"/>
          <p:nvPr/>
        </p:nvSpPr>
        <p:spPr>
          <a:xfrm>
            <a:off x="2606040" y="2148840"/>
            <a:ext cx="2011680" cy="3657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damping factor</a:t>
            </a:r>
            <a:endParaRPr lang="en-US" sz="1400" dirty="0"/>
          </a:p>
        </p:txBody>
      </p:sp>
      <p:sp>
        <p:nvSpPr>
          <p:cNvPr id="9" name="Stat card 3"/>
          <p:cNvSpPr/>
          <p:nvPr/>
        </p:nvSpPr>
        <p:spPr>
          <a:xfrm>
            <a:off x="457200" y="2926080"/>
            <a:ext cx="2011680" cy="1508760"/>
          </a:xfrm>
          <a:prstGeom prst="roundRect">
            <a:avLst>
              <a:gd name="adj" fmla="val 6061"/>
            </a:avLst>
          </a:prstGeom>
          <a:solidFill>
            <a:schemeClr val="bg2"/>
          </a:solidFill>
          <a:ln w="12700">
            <a:solidFill>
              <a:schemeClr val="bg2"/>
            </a:solidFill>
            <a:prstDash val="solid"/>
          </a:ln>
        </p:spPr>
      </p:sp>
      <p:sp>
        <p:nvSpPr>
          <p:cNvPr id="10" name="Stat value 3"/>
          <p:cNvSpPr txBox="1"/>
          <p:nvPr/>
        </p:nvSpPr>
        <p:spPr>
          <a:xfrm>
            <a:off x="457200" y="3154680"/>
            <a:ext cx="2011680" cy="64008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65°</a:t>
            </a:r>
            <a:endParaRPr lang="en-US" sz="3200" dirty="0"/>
          </a:p>
        </p:txBody>
      </p:sp>
      <p:sp>
        <p:nvSpPr>
          <p:cNvPr id="11" name="Stat label 3"/>
          <p:cNvSpPr txBox="1"/>
          <p:nvPr/>
        </p:nvSpPr>
        <p:spPr>
          <a:xfrm>
            <a:off x="457200" y="3840480"/>
            <a:ext cx="2011680" cy="3657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phase margin</a:t>
            </a:r>
            <a:endParaRPr lang="en-US" sz="1400" dirty="0"/>
          </a:p>
        </p:txBody>
      </p:sp>
      <p:sp>
        <p:nvSpPr>
          <p:cNvPr id="12" name="Stat card 4"/>
          <p:cNvSpPr/>
          <p:nvPr/>
        </p:nvSpPr>
        <p:spPr>
          <a:xfrm>
            <a:off x="2606040" y="2926080"/>
            <a:ext cx="2011680" cy="1508760"/>
          </a:xfrm>
          <a:prstGeom prst="roundRect">
            <a:avLst>
              <a:gd name="adj" fmla="val 6061"/>
            </a:avLst>
          </a:prstGeom>
          <a:solidFill>
            <a:schemeClr val="bg2"/>
          </a:solidFill>
          <a:ln w="12700">
            <a:solidFill>
              <a:schemeClr val="bg2"/>
            </a:solidFill>
            <a:prstDash val="solid"/>
          </a:ln>
        </p:spPr>
      </p:sp>
      <p:sp>
        <p:nvSpPr>
          <p:cNvPr id="13" name="Stat value 4"/>
          <p:cNvSpPr txBox="1"/>
          <p:nvPr/>
        </p:nvSpPr>
        <p:spPr>
          <a:xfrm>
            <a:off x="2606040" y="3154680"/>
            <a:ext cx="2011680" cy="64008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549 kHz</a:t>
            </a:r>
            <a:endParaRPr lang="en-US" sz="3200" dirty="0"/>
          </a:p>
        </p:txBody>
      </p:sp>
      <p:sp>
        <p:nvSpPr>
          <p:cNvPr id="14" name="Stat label 4"/>
          <p:cNvSpPr txBox="1"/>
          <p:nvPr/>
        </p:nvSpPr>
        <p:spPr>
          <a:xfrm>
            <a:off x="2606040" y="3840480"/>
            <a:ext cx="2011680" cy="3657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unity-gain crossover</a:t>
            </a:r>
            <a:endParaRPr lang="en-US" sz="1400" dirty="0"/>
          </a:p>
        </p:txBody>
      </p:sp>
      <p:graphicFrame>
        <p:nvGraphicFramePr>
          <p:cNvPr id="5" name="Parameter table"/>
          <p:cNvGraphicFramePr>
            <a:graphicFrameLocks noGrp="1"/>
          </p:cNvGraphicFramePr>
          <p:nvPr>
            <p:extLst>
              <p:ext uri="{D42A27DB-BD31-4B8C-83A1-F6EECF244321}">
                <p14:modId xmlns:p14="http://schemas.microsoft.com/office/powerpoint/2010/main" val="1579011935"/>
              </p:ext>
            </p:extLst>
          </p:nvPr>
        </p:nvGraphicFramePr>
        <p:xfrm>
          <a:off x="4937760" y="1234440"/>
          <a:ext cx="3749040" cy="914400"/>
        </p:xfrm>
        <a:graphic>
          <a:graphicData uri="http://schemas.openxmlformats.org/drawingml/2006/table">
            <a:tbl>
              <a:tblPr/>
              <a:tblGrid>
                <a:gridCol w="2286000"/>
                <a:gridCol w="1463040"/>
              </a:tblGrid>
              <a:tr h="347472">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tx2"/>
                    </a:solidFill>
                  </a:tcPr>
                </a:tc>
              </a:tr>
              <a:tr h="34747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Reference frequency</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10 MHz</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r>
              <a:tr h="34747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Divider N</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2"/>
                    </a:solidFill>
                  </a:tcPr>
                </a:tc>
              </a:tr>
              <a:tr h="34747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Charge pump current</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100 µA</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r>
              <a:tr h="34747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VCO gain</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50 MHz/V</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2"/>
                    </a:solidFill>
                  </a:tcPr>
                </a:tc>
              </a:tr>
              <a:tr h="34747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Loop filter C</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100 pF</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r>
              <a:tr h="34747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Loop filter R</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6.26 kΩ</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2"/>
                    </a:solidFill>
                  </a:tcPr>
                </a:tc>
              </a:tr>
              <a:tr h="34747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VCO start frequency</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90 MHz</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r>
            </a:tbl>
          </a:graphicData>
        </a:graphic>
      </p:graphicFrame>
      <p:sp>
        <p:nvSpPr>
          <p:cNvPr id="16" name="Parameter note"/>
          <p:cNvSpPr txBox="1"/>
          <p:nvPr/>
        </p:nvSpPr>
        <p:spPr>
          <a:xfrm>
            <a:off x="4937760" y="4206240"/>
            <a:ext cx="374904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VCO starts 10% too slow so the simulation shows a full lock.</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The PLL locks in a few microseconds</a:t>
            </a:r>
            <a:endParaRPr lang="en-US" sz="2800" dirty="0"/>
          </a:p>
        </p:txBody>
      </p:sp>
      <p:pic>
        <p:nvPicPr>
          <p:cNvPr id="3" name="Lock simulation plot" descr="Simulation of VCO frequency, control voltage and phase error">    </p:cNvPr>
          <p:cNvPicPr>
            <a:picLocks noChangeAspect="1"/>
          </p:cNvPicPr>
          <p:nvPr/>
        </p:nvPicPr>
        <p:blipFill>
          <a:blip r:embed="rId1"/>
          <a:stretch>
            <a:fillRect/>
          </a:stretch>
        </p:blipFill>
        <p:spPr>
          <a:xfrm>
            <a:off x="457200" y="1051560"/>
            <a:ext cx="3657600" cy="3657600"/>
          </a:xfrm>
          <a:prstGeom prst="rect">
            <a:avLst/>
          </a:prstGeom>
        </p:spPr>
      </p:pic>
      <p:sp>
        <p:nvSpPr>
          <p:cNvPr id="4" name="Result value 1"/>
          <p:cNvSpPr txBox="1"/>
          <p:nvPr/>
        </p:nvSpPr>
        <p:spPr>
          <a:xfrm>
            <a:off x="4480560" y="1143000"/>
            <a:ext cx="173736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3.0 µs</a:t>
            </a:r>
            <a:endParaRPr lang="en-US" sz="3000" dirty="0"/>
          </a:p>
        </p:txBody>
      </p:sp>
      <p:sp>
        <p:nvSpPr>
          <p:cNvPr id="5" name="Result label 1"/>
          <p:cNvSpPr txBox="1"/>
          <p:nvPr/>
        </p:nvSpPr>
        <p:spPr>
          <a:xfrm>
            <a:off x="6217920" y="1143000"/>
            <a:ext cx="2468880" cy="8229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lock from 90 MHz to 100 MHz</a:t>
            </a:r>
            <a:endParaRPr lang="en-US" sz="1400" dirty="0"/>
          </a:p>
        </p:txBody>
      </p:sp>
      <p:sp>
        <p:nvSpPr>
          <p:cNvPr id="6" name="Result value 2"/>
          <p:cNvSpPr txBox="1"/>
          <p:nvPr/>
        </p:nvSpPr>
        <p:spPr>
          <a:xfrm>
            <a:off x="4480560" y="2103120"/>
            <a:ext cx="173736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2.0 µs</a:t>
            </a:r>
            <a:endParaRPr lang="en-US" sz="3000" dirty="0"/>
          </a:p>
        </p:txBody>
      </p:sp>
      <p:sp>
        <p:nvSpPr>
          <p:cNvPr id="7" name="Result label 2"/>
          <p:cNvSpPr txBox="1"/>
          <p:nvPr/>
        </p:nvSpPr>
        <p:spPr>
          <a:xfrm>
            <a:off x="6217920" y="2103120"/>
            <a:ext cx="2468880" cy="8229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re-lock after 10 to 10.5 MHz reference step</a:t>
            </a:r>
            <a:endParaRPr lang="en-US" sz="1400" dirty="0"/>
          </a:p>
        </p:txBody>
      </p:sp>
      <p:sp>
        <p:nvSpPr>
          <p:cNvPr id="8" name="Result value 3"/>
          <p:cNvSpPr txBox="1"/>
          <p:nvPr/>
        </p:nvSpPr>
        <p:spPr>
          <a:xfrm>
            <a:off x="4480560" y="3063240"/>
            <a:ext cx="173736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1.5 µs</a:t>
            </a:r>
            <a:endParaRPr lang="en-US" sz="3000" dirty="0"/>
          </a:p>
        </p:txBody>
      </p:sp>
      <p:sp>
        <p:nvSpPr>
          <p:cNvPr id="9" name="Result label 3"/>
          <p:cNvSpPr txBox="1"/>
          <p:nvPr/>
        </p:nvSpPr>
        <p:spPr>
          <a:xfrm>
            <a:off x="6217920" y="3063240"/>
            <a:ext cx="2468880" cy="8229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recovery from a 20 mV disturbance (1 MHz kick)</a:t>
            </a:r>
            <a:endParaRPr lang="en-US" sz="1400" dirty="0"/>
          </a:p>
        </p:txBody>
      </p:sp>
      <p:sp>
        <p:nvSpPr>
          <p:cNvPr id="10" name="Check box"/>
          <p:cNvSpPr/>
          <p:nvPr/>
        </p:nvSpPr>
        <p:spPr>
          <a:xfrm>
            <a:off x="4480560" y="4069080"/>
            <a:ext cx="4206240" cy="640080"/>
          </a:xfrm>
          <a:prstGeom prst="roundRect">
            <a:avLst>
              <a:gd name="adj" fmla="val 11429"/>
            </a:avLst>
          </a:prstGeom>
          <a:solidFill>
            <a:schemeClr val="bg2"/>
          </a:solidFill>
          <a:ln w="12700">
            <a:solidFill>
              <a:schemeClr val="bg2"/>
            </a:solidFill>
            <a:prstDash val="solid"/>
          </a:ln>
        </p:spPr>
      </p:sp>
      <p:sp>
        <p:nvSpPr>
          <p:cNvPr id="11" name="Check text"/>
          <p:cNvSpPr txBox="1"/>
          <p:nvPr/>
        </p:nvSpPr>
        <p:spPr>
          <a:xfrm>
            <a:off x="4617720" y="4069080"/>
            <a:ext cx="3931920" cy="64008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Frequency overshoot 22.8% in simulation vs 21% from the linear model: the two models agree.</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Wider loop bandwidth locks faster</a:t>
            </a:r>
            <a:endParaRPr lang="en-US" sz="2800" dirty="0"/>
          </a:p>
        </p:txBody>
      </p:sp>
      <p:pic>
        <p:nvPicPr>
          <p:cNvPr id="3" name="Lock time vs bandwidth plot" descr="Lock time against loop bandwidth">    </p:cNvPr>
          <p:cNvPicPr>
            <a:picLocks noChangeAspect="1"/>
          </p:cNvPicPr>
          <p:nvPr/>
        </p:nvPicPr>
        <p:blipFill>
          <a:blip r:embed="rId1"/>
          <a:stretch>
            <a:fillRect/>
          </a:stretch>
        </p:blipFill>
        <p:spPr>
          <a:xfrm>
            <a:off x="457200" y="1188720"/>
            <a:ext cx="4663440" cy="2664562"/>
          </a:xfrm>
          <a:prstGeom prst="rect">
            <a:avLst/>
          </a:prstGeom>
        </p:spPr>
      </p:pic>
      <p:graphicFrame>
        <p:nvGraphicFramePr>
          <p:cNvPr id="7" name="Bandwidth table"/>
          <p:cNvGraphicFramePr>
            <a:graphicFrameLocks noGrp="1"/>
          </p:cNvGraphicFramePr>
          <p:nvPr>
            <p:extLst>
              <p:ext uri="{D42A27DB-BD31-4B8C-83A1-F6EECF244321}">
                <p14:modId xmlns:p14="http://schemas.microsoft.com/office/powerpoint/2010/main" val="1579011935"/>
              </p:ext>
            </p:extLst>
          </p:nvPr>
        </p:nvGraphicFramePr>
        <p:xfrm>
          <a:off x="5440680" y="1188720"/>
          <a:ext cx="3246120" cy="914400"/>
        </p:xfrm>
        <a:graphic>
          <a:graphicData uri="http://schemas.openxmlformats.org/drawingml/2006/table">
            <a:tbl>
              <a:tblPr/>
              <a:tblGrid>
                <a:gridCol w="1691640"/>
                <a:gridCol w="1554480"/>
              </a:tblGrid>
              <a:tr h="38404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Natural frequency</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Settle to 1 MHz</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100 kHz</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5.8 µs</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200 kHz</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2.9 µs</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356 kHz</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1.6 µs</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600 kHz</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0.9 µs</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 MHz</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0.5 µs</a:t>
                      </a:r>
                      <a:endParaRPr lang="en-US" sz="1400" dirty="0">
                        <a:latin typeface="Calibri" charset="0"/>
                        <a:ea typeface="Calibri" charset="0"/>
                        <a:cs typeface="Calibri" charset="0"/>
                      </a:endParaRPr>
                    </a:p>
                  </a:txBody>
                  <a:tcPr marL="91440" marR="91440" marT="0" marB="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bg1"/>
                    </a:solidFill>
                  </a:tcPr>
                </a:tc>
              </a:tr>
            </a:tbl>
          </a:graphicData>
        </a:graphic>
      </p:graphicFrame>
      <p:sp>
        <p:nvSpPr>
          <p:cNvPr id="5" name="Bandwidth takeaway"/>
          <p:cNvSpPr txBox="1"/>
          <p:nvPr/>
        </p:nvSpPr>
        <p:spPr>
          <a:xfrm>
            <a:off x="457200" y="4023360"/>
            <a:ext cx="8229600" cy="6400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Lock time is proportional to 1 / bandwidth: </a:t>
            </a:r>
            <a:pPr indent="0" marL="0">
              <a:buNone/>
            </a:pPr>
            <a:r>
              <a:rPr lang="en-US" sz="1600" dirty="0">
                <a:solidFill>
                  <a:schemeClr val="tx1"/>
                </a:solidFill>
                <a:latin typeface="Calibri" pitchFamily="34" charset="0"/>
                <a:ea typeface="Calibri" pitchFamily="34" charset="-122"/>
                <a:cs typeface="Calibri" pitchFamily="34" charset="-120"/>
              </a:rPr>
              <a:t>doubling the bandwidth halves it. The cost is more noise passed from the reference (next slides).</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Damping: speed against stability</a:t>
            </a:r>
            <a:endParaRPr lang="en-US" sz="2800" dirty="0"/>
          </a:p>
        </p:txBody>
      </p:sp>
      <p:pic>
        <p:nvPicPr>
          <p:cNvPr id="3" name="Damping sweep plot" descr="Overshoot, settling time and phase margin against damping">    </p:cNvPr>
          <p:cNvPicPr>
            <a:picLocks noChangeAspect="1"/>
          </p:cNvPicPr>
          <p:nvPr/>
        </p:nvPicPr>
        <p:blipFill>
          <a:blip r:embed="rId1"/>
          <a:stretch>
            <a:fillRect/>
          </a:stretch>
        </p:blipFill>
        <p:spPr>
          <a:xfrm>
            <a:off x="457200" y="1051560"/>
            <a:ext cx="8229600" cy="2404872"/>
          </a:xfrm>
          <a:prstGeom prst="rect">
            <a:avLst/>
          </a:prstGeom>
        </p:spPr>
      </p:pic>
      <p:sp>
        <p:nvSpPr>
          <p:cNvPr id="4" name="Damping card 1"/>
          <p:cNvSpPr/>
          <p:nvPr/>
        </p:nvSpPr>
        <p:spPr>
          <a:xfrm>
            <a:off x="457200" y="3611880"/>
            <a:ext cx="2651760" cy="1097280"/>
          </a:xfrm>
          <a:prstGeom prst="roundRect">
            <a:avLst>
              <a:gd name="adj" fmla="val 8333"/>
            </a:avLst>
          </a:prstGeom>
          <a:solidFill>
            <a:schemeClr val="bg2"/>
          </a:solidFill>
          <a:ln w="12700">
            <a:solidFill>
              <a:schemeClr val="bg2"/>
            </a:solidFill>
            <a:prstDash val="solid"/>
          </a:ln>
        </p:spPr>
      </p:sp>
      <p:sp>
        <p:nvSpPr>
          <p:cNvPr id="5" name="Damping text 1"/>
          <p:cNvSpPr txBox="1"/>
          <p:nvPr/>
        </p:nvSpPr>
        <p:spPr>
          <a:xfrm>
            <a:off x="566928" y="3611880"/>
            <a:ext cx="2432304" cy="10972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Damping 0.3</a:t>
            </a:r>
            <a:endParaRPr lang="en-US" sz="1400" dirty="0"/>
          </a:p>
          <a:p>
            <a:pPr indent="0" marL="0">
              <a:buNone/>
            </a:pPr>
            <a:r>
              <a:rPr lang="en-US" sz="1300" dirty="0">
                <a:solidFill>
                  <a:schemeClr val="tx1"/>
                </a:solidFill>
                <a:latin typeface="Calibri" pitchFamily="34" charset="0"/>
                <a:ea typeface="Calibri" pitchFamily="34" charset="-122"/>
                <a:cs typeface="Calibri" pitchFamily="34" charset="-120"/>
              </a:rPr>
              <a:t>45% overshoot, 33° margin</a:t>
            </a:r>
            <a:endParaRPr lang="en-US" sz="1400" dirty="0"/>
          </a:p>
          <a:p>
            <a:pPr indent="0" marL="0">
              <a:buNone/>
            </a:pPr>
            <a:r>
              <a:rPr lang="en-US" sz="1300" i="1" dirty="0">
                <a:solidFill>
                  <a:schemeClr val="tx1"/>
                </a:solidFill>
                <a:latin typeface="Calibri" pitchFamily="34" charset="0"/>
                <a:ea typeface="Calibri" pitchFamily="34" charset="-122"/>
                <a:cs typeface="Calibri" pitchFamily="34" charset="-120"/>
              </a:rPr>
              <a:t>Rings, low margin</a:t>
            </a:r>
            <a:endParaRPr lang="en-US" sz="1400" dirty="0"/>
          </a:p>
        </p:txBody>
      </p:sp>
      <p:sp>
        <p:nvSpPr>
          <p:cNvPr id="6" name="Damping card 2"/>
          <p:cNvSpPr/>
          <p:nvPr/>
        </p:nvSpPr>
        <p:spPr>
          <a:xfrm>
            <a:off x="3246120" y="3611880"/>
            <a:ext cx="2651760" cy="1097280"/>
          </a:xfrm>
          <a:prstGeom prst="roundRect">
            <a:avLst>
              <a:gd name="adj" fmla="val 8333"/>
            </a:avLst>
          </a:prstGeom>
          <a:solidFill>
            <a:schemeClr val="accent1"/>
          </a:solidFill>
          <a:ln w="12700">
            <a:solidFill>
              <a:schemeClr val="accent1"/>
            </a:solidFill>
            <a:prstDash val="solid"/>
          </a:ln>
        </p:spPr>
      </p:sp>
      <p:sp>
        <p:nvSpPr>
          <p:cNvPr id="7" name="Damping text 2"/>
          <p:cNvSpPr txBox="1"/>
          <p:nvPr/>
        </p:nvSpPr>
        <p:spPr>
          <a:xfrm>
            <a:off x="3355848" y="3611880"/>
            <a:ext cx="2432304" cy="109728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Damping 0.7</a:t>
            </a:r>
            <a:endParaRPr lang="en-US" sz="1400" dirty="0"/>
          </a:p>
          <a:p>
            <a:pPr indent="0" marL="0">
              <a:buNone/>
            </a:pPr>
            <a:r>
              <a:rPr lang="en-US" sz="1300" dirty="0">
                <a:solidFill>
                  <a:schemeClr val="bg1"/>
                </a:solidFill>
                <a:latin typeface="Calibri" pitchFamily="34" charset="0"/>
                <a:ea typeface="Calibri" pitchFamily="34" charset="-122"/>
                <a:cs typeface="Calibri" pitchFamily="34" charset="-120"/>
              </a:rPr>
              <a:t>2.3 µs settling, 65° margin</a:t>
            </a:r>
            <a:endParaRPr lang="en-US" sz="1400" dirty="0"/>
          </a:p>
          <a:p>
            <a:pPr indent="0" marL="0">
              <a:buNone/>
            </a:pPr>
            <a:r>
              <a:rPr lang="en-US" sz="1300" i="1" dirty="0">
                <a:solidFill>
                  <a:schemeClr val="bg1"/>
                </a:solidFill>
                <a:latin typeface="Calibri" pitchFamily="34" charset="0"/>
                <a:ea typeface="Calibri" pitchFamily="34" charset="-122"/>
                <a:cs typeface="Calibri" pitchFamily="34" charset="-120"/>
              </a:rPr>
              <a:t>Fastest, good margin</a:t>
            </a:r>
            <a:endParaRPr lang="en-US" sz="1400" dirty="0"/>
          </a:p>
        </p:txBody>
      </p:sp>
      <p:sp>
        <p:nvSpPr>
          <p:cNvPr id="8" name="Damping card 3"/>
          <p:cNvSpPr/>
          <p:nvPr/>
        </p:nvSpPr>
        <p:spPr>
          <a:xfrm>
            <a:off x="6035040" y="3611880"/>
            <a:ext cx="2651760" cy="1097280"/>
          </a:xfrm>
          <a:prstGeom prst="roundRect">
            <a:avLst>
              <a:gd name="adj" fmla="val 8333"/>
            </a:avLst>
          </a:prstGeom>
          <a:solidFill>
            <a:schemeClr val="bg2"/>
          </a:solidFill>
          <a:ln w="12700">
            <a:solidFill>
              <a:schemeClr val="bg2"/>
            </a:solidFill>
            <a:prstDash val="solid"/>
          </a:ln>
        </p:spPr>
      </p:sp>
      <p:sp>
        <p:nvSpPr>
          <p:cNvPr id="9" name="Damping text 3"/>
          <p:cNvSpPr txBox="1"/>
          <p:nvPr/>
        </p:nvSpPr>
        <p:spPr>
          <a:xfrm>
            <a:off x="6144768" y="3611880"/>
            <a:ext cx="2432304" cy="10972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Damping 1.0 to 1.5</a:t>
            </a:r>
            <a:endParaRPr lang="en-US" sz="1400" dirty="0"/>
          </a:p>
          <a:p>
            <a:pPr indent="0" marL="0">
              <a:buNone/>
            </a:pPr>
            <a:r>
              <a:rPr lang="en-US" sz="1300" dirty="0">
                <a:solidFill>
                  <a:schemeClr val="tx1"/>
                </a:solidFill>
                <a:latin typeface="Calibri" pitchFamily="34" charset="0"/>
                <a:ea typeface="Calibri" pitchFamily="34" charset="-122"/>
                <a:cs typeface="Calibri" pitchFamily="34" charset="-120"/>
              </a:rPr>
              <a:t>13% to 8% overshoot, 76° to 84°</a:t>
            </a:r>
            <a:endParaRPr lang="en-US" sz="1400" dirty="0"/>
          </a:p>
          <a:p>
            <a:pPr indent="0" marL="0">
              <a:buNone/>
            </a:pPr>
            <a:r>
              <a:rPr lang="en-US" sz="1300" i="1" dirty="0">
                <a:solidFill>
                  <a:schemeClr val="tx1"/>
                </a:solidFill>
                <a:latin typeface="Calibri" pitchFamily="34" charset="0"/>
                <a:ea typeface="Calibri" pitchFamily="34" charset="-122"/>
                <a:cs typeface="Calibri" pitchFamily="34" charset="-120"/>
              </a:rPr>
              <a:t>Safe but slower</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Jitter has a sweet spot in bandwidth</a:t>
            </a:r>
            <a:endParaRPr lang="en-US" sz="2800" dirty="0"/>
          </a:p>
        </p:txBody>
      </p:sp>
      <p:pic>
        <p:nvPicPr>
          <p:cNvPr id="3" name="Jitter plot" descr="RMS jitter against loop bandwidth">    </p:cNvPr>
          <p:cNvPicPr>
            <a:picLocks noChangeAspect="1"/>
          </p:cNvPicPr>
          <p:nvPr/>
        </p:nvPicPr>
        <p:blipFill>
          <a:blip r:embed="rId1"/>
          <a:stretch>
            <a:fillRect/>
          </a:stretch>
        </p:blipFill>
        <p:spPr>
          <a:xfrm>
            <a:off x="457200" y="1143000"/>
            <a:ext cx="4846320" cy="2769718"/>
          </a:xfrm>
          <a:prstGeom prst="rect">
            <a:avLst/>
          </a:prstGeom>
        </p:spPr>
      </p:pic>
      <p:sp>
        <p:nvSpPr>
          <p:cNvPr id="4" name="Jitter minimum value"/>
          <p:cNvSpPr txBox="1"/>
          <p:nvPr/>
        </p:nvSpPr>
        <p:spPr>
          <a:xfrm>
            <a:off x="5577840" y="1097280"/>
            <a:ext cx="31089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13.35 ps</a:t>
            </a:r>
            <a:endParaRPr lang="en-US" sz="4000" dirty="0"/>
          </a:p>
        </p:txBody>
      </p:sp>
      <p:sp>
        <p:nvSpPr>
          <p:cNvPr id="5" name="Jitter minimum label"/>
          <p:cNvSpPr txBox="1"/>
          <p:nvPr/>
        </p:nvSpPr>
        <p:spPr>
          <a:xfrm>
            <a:off x="5577840" y="1828800"/>
            <a:ext cx="310896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minimum RMS jitter, near 640 kHz (about fref / 15)</a:t>
            </a:r>
            <a:endParaRPr lang="en-US" sz="1400" dirty="0"/>
          </a:p>
        </p:txBody>
      </p:sp>
      <p:sp>
        <p:nvSpPr>
          <p:cNvPr id="6" name="Jitter bullets"/>
          <p:cNvSpPr txBox="1"/>
          <p:nvPr/>
        </p:nvSpPr>
        <p:spPr>
          <a:xfrm>
            <a:off x="5577840" y="2514600"/>
            <a:ext cx="310896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Too narrow: VCO noise dominates (24 ps at 100 kHz)</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Too wide: reference noise, multiplied by N squared, dominates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Above fref / 10 crossover the model is optimistic</a:t>
            </a:r>
            <a:endParaRPr lang="en-US" sz="1400" dirty="0"/>
          </a:p>
        </p:txBody>
      </p:sp>
      <p:sp>
        <p:nvSpPr>
          <p:cNvPr id="7" name="Noise assumption"/>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Assumed noise: reference -130 dBc/Hz white, VCO -110 dBc/Hz at 1 MHz offset. The trend and the optimum matter, not the absolute picoseconds.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Integration guidelines</a:t>
            </a:r>
            <a:endParaRPr lang="en-US" sz="2800" dirty="0"/>
          </a:p>
        </p:txBody>
      </p:sp>
      <p:sp>
        <p:nvSpPr>
          <p:cNvPr id="3" name="Guideline card 1"/>
          <p:cNvSpPr/>
          <p:nvPr/>
        </p:nvSpPr>
        <p:spPr>
          <a:xfrm>
            <a:off x="457200" y="1188720"/>
            <a:ext cx="2651760" cy="1600200"/>
          </a:xfrm>
          <a:prstGeom prst="roundRect">
            <a:avLst>
              <a:gd name="adj" fmla="val 5714"/>
            </a:avLst>
          </a:prstGeom>
          <a:solidFill>
            <a:schemeClr val="bg2"/>
          </a:solidFill>
          <a:ln w="12700">
            <a:solidFill>
              <a:schemeClr val="bg2"/>
            </a:solidFill>
            <a:prstDash val="solid"/>
          </a:ln>
        </p:spPr>
      </p:sp>
      <p:sp>
        <p:nvSpPr>
          <p:cNvPr id="4" name="Guideline title 1"/>
          <p:cNvSpPr txBox="1"/>
          <p:nvPr/>
        </p:nvSpPr>
        <p:spPr>
          <a:xfrm>
            <a:off x="621792" y="1325880"/>
            <a:ext cx="233172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Loop bandwidth</a:t>
            </a:r>
            <a:endParaRPr lang="en-US" sz="1600" dirty="0"/>
          </a:p>
        </p:txBody>
      </p:sp>
      <p:sp>
        <p:nvSpPr>
          <p:cNvPr id="5" name="Guideline text 1"/>
          <p:cNvSpPr txBox="1"/>
          <p:nvPr/>
        </p:nvSpPr>
        <p:spPr>
          <a:xfrm>
            <a:off x="621792" y="1755648"/>
            <a:ext cx="233172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Natural frequency fref/30 to fref/15; crossover below fref/10</a:t>
            </a:r>
            <a:endParaRPr lang="en-US" sz="1400" dirty="0"/>
          </a:p>
        </p:txBody>
      </p:sp>
      <p:sp>
        <p:nvSpPr>
          <p:cNvPr id="6" name="Guideline card 2"/>
          <p:cNvSpPr/>
          <p:nvPr/>
        </p:nvSpPr>
        <p:spPr>
          <a:xfrm>
            <a:off x="3246120" y="1188720"/>
            <a:ext cx="2651760" cy="1600200"/>
          </a:xfrm>
          <a:prstGeom prst="roundRect">
            <a:avLst>
              <a:gd name="adj" fmla="val 5714"/>
            </a:avLst>
          </a:prstGeom>
          <a:solidFill>
            <a:schemeClr val="bg2"/>
          </a:solidFill>
          <a:ln w="12700">
            <a:solidFill>
              <a:schemeClr val="bg2"/>
            </a:solidFill>
            <a:prstDash val="solid"/>
          </a:ln>
        </p:spPr>
      </p:sp>
      <p:sp>
        <p:nvSpPr>
          <p:cNvPr id="7" name="Guideline title 2"/>
          <p:cNvSpPr txBox="1"/>
          <p:nvPr/>
        </p:nvSpPr>
        <p:spPr>
          <a:xfrm>
            <a:off x="3410712" y="1325880"/>
            <a:ext cx="233172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Damping</a:t>
            </a:r>
            <a:endParaRPr lang="en-US" sz="1600" dirty="0"/>
          </a:p>
        </p:txBody>
      </p:sp>
      <p:sp>
        <p:nvSpPr>
          <p:cNvPr id="8" name="Guideline text 2"/>
          <p:cNvSpPr txBox="1"/>
          <p:nvPr/>
        </p:nvSpPr>
        <p:spPr>
          <a:xfrm>
            <a:off x="3410712" y="1755648"/>
            <a:ext cx="233172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 0.7 to 1.0 for 65 to 76 degrees of margin</a:t>
            </a:r>
            <a:endParaRPr lang="en-US" sz="1400" dirty="0"/>
          </a:p>
        </p:txBody>
      </p:sp>
      <p:sp>
        <p:nvSpPr>
          <p:cNvPr id="9" name="Guideline card 3"/>
          <p:cNvSpPr/>
          <p:nvPr/>
        </p:nvSpPr>
        <p:spPr>
          <a:xfrm>
            <a:off x="6035040" y="1188720"/>
            <a:ext cx="2651760" cy="1600200"/>
          </a:xfrm>
          <a:prstGeom prst="roundRect">
            <a:avLst>
              <a:gd name="adj" fmla="val 5714"/>
            </a:avLst>
          </a:prstGeom>
          <a:solidFill>
            <a:schemeClr val="bg2"/>
          </a:solidFill>
          <a:ln w="12700">
            <a:solidFill>
              <a:schemeClr val="bg2"/>
            </a:solidFill>
            <a:prstDash val="solid"/>
          </a:ln>
        </p:spPr>
      </p:sp>
      <p:sp>
        <p:nvSpPr>
          <p:cNvPr id="10" name="Guideline title 3"/>
          <p:cNvSpPr txBox="1"/>
          <p:nvPr/>
        </p:nvSpPr>
        <p:spPr>
          <a:xfrm>
            <a:off x="6199632" y="1325880"/>
            <a:ext cx="233172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Reference clock</a:t>
            </a:r>
            <a:endParaRPr lang="en-US" sz="1600" dirty="0"/>
          </a:p>
        </p:txBody>
      </p:sp>
      <p:sp>
        <p:nvSpPr>
          <p:cNvPr id="11" name="Guideline text 3"/>
          <p:cNvSpPr txBox="1"/>
          <p:nvPr/>
        </p:nvSpPr>
        <p:spPr>
          <a:xfrm>
            <a:off x="6199632" y="1755648"/>
            <a:ext cx="233172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Low-jitter source; keep N small</a:t>
            </a:r>
            <a:endParaRPr lang="en-US" sz="1400" dirty="0"/>
          </a:p>
        </p:txBody>
      </p:sp>
      <p:sp>
        <p:nvSpPr>
          <p:cNvPr id="12" name="Guideline card 4"/>
          <p:cNvSpPr/>
          <p:nvPr/>
        </p:nvSpPr>
        <p:spPr>
          <a:xfrm>
            <a:off x="457200" y="2926080"/>
            <a:ext cx="2651760" cy="1600200"/>
          </a:xfrm>
          <a:prstGeom prst="roundRect">
            <a:avLst>
              <a:gd name="adj" fmla="val 5714"/>
            </a:avLst>
          </a:prstGeom>
          <a:solidFill>
            <a:schemeClr val="bg2"/>
          </a:solidFill>
          <a:ln w="12700">
            <a:solidFill>
              <a:schemeClr val="bg2"/>
            </a:solidFill>
            <a:prstDash val="solid"/>
          </a:ln>
        </p:spPr>
      </p:sp>
      <p:sp>
        <p:nvSpPr>
          <p:cNvPr id="13" name="Guideline title 4"/>
          <p:cNvSpPr txBox="1"/>
          <p:nvPr/>
        </p:nvSpPr>
        <p:spPr>
          <a:xfrm>
            <a:off x="621792" y="3063240"/>
            <a:ext cx="233172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Control line Vc</a:t>
            </a:r>
            <a:endParaRPr lang="en-US" sz="1600" dirty="0"/>
          </a:p>
        </p:txBody>
      </p:sp>
      <p:sp>
        <p:nvSpPr>
          <p:cNvPr id="14" name="Guideline text 4"/>
          <p:cNvSpPr txBox="1"/>
          <p:nvPr/>
        </p:nvSpPr>
        <p:spPr>
          <a:xfrm>
            <a:off x="621792" y="3493008"/>
            <a:ext cx="233172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Short, shielded, guard ring: 20 mV moves output 1 MHz</a:t>
            </a:r>
            <a:endParaRPr lang="en-US" sz="1400" dirty="0"/>
          </a:p>
        </p:txBody>
      </p:sp>
      <p:sp>
        <p:nvSpPr>
          <p:cNvPr id="15" name="Guideline card 5"/>
          <p:cNvSpPr/>
          <p:nvPr/>
        </p:nvSpPr>
        <p:spPr>
          <a:xfrm>
            <a:off x="3246120" y="2926080"/>
            <a:ext cx="2651760" cy="1600200"/>
          </a:xfrm>
          <a:prstGeom prst="roundRect">
            <a:avLst>
              <a:gd name="adj" fmla="val 5714"/>
            </a:avLst>
          </a:prstGeom>
          <a:solidFill>
            <a:schemeClr val="bg2"/>
          </a:solidFill>
          <a:ln w="12700">
            <a:solidFill>
              <a:schemeClr val="bg2"/>
            </a:solidFill>
            <a:prstDash val="solid"/>
          </a:ln>
        </p:spPr>
      </p:sp>
      <p:sp>
        <p:nvSpPr>
          <p:cNvPr id="16" name="Guideline title 5"/>
          <p:cNvSpPr txBox="1"/>
          <p:nvPr/>
        </p:nvSpPr>
        <p:spPr>
          <a:xfrm>
            <a:off x="3410712" y="3063240"/>
            <a:ext cx="233172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Supply isolation</a:t>
            </a:r>
            <a:endParaRPr lang="en-US" sz="1600" dirty="0"/>
          </a:p>
        </p:txBody>
      </p:sp>
      <p:sp>
        <p:nvSpPr>
          <p:cNvPr id="17" name="Guideline text 5"/>
          <p:cNvSpPr txBox="1"/>
          <p:nvPr/>
        </p:nvSpPr>
        <p:spPr>
          <a:xfrm>
            <a:off x="3410712" y="3493008"/>
            <a:ext cx="233172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Dedicated filtered supply and clean analog ground for VCO</a:t>
            </a:r>
            <a:endParaRPr lang="en-US" sz="1400" dirty="0"/>
          </a:p>
        </p:txBody>
      </p:sp>
      <p:sp>
        <p:nvSpPr>
          <p:cNvPr id="18" name="Guideline card 6"/>
          <p:cNvSpPr/>
          <p:nvPr/>
        </p:nvSpPr>
        <p:spPr>
          <a:xfrm>
            <a:off x="6035040" y="2926080"/>
            <a:ext cx="2651760" cy="1600200"/>
          </a:xfrm>
          <a:prstGeom prst="roundRect">
            <a:avLst>
              <a:gd name="adj" fmla="val 5714"/>
            </a:avLst>
          </a:prstGeom>
          <a:solidFill>
            <a:schemeClr val="bg2"/>
          </a:solidFill>
          <a:ln w="12700">
            <a:solidFill>
              <a:schemeClr val="bg2"/>
            </a:solidFill>
            <a:prstDash val="solid"/>
          </a:ln>
        </p:spPr>
      </p:sp>
      <p:sp>
        <p:nvSpPr>
          <p:cNvPr id="19" name="Guideline title 6"/>
          <p:cNvSpPr txBox="1"/>
          <p:nvPr/>
        </p:nvSpPr>
        <p:spPr>
          <a:xfrm>
            <a:off x="6199632" y="3063240"/>
            <a:ext cx="233172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Lock monitor</a:t>
            </a:r>
            <a:endParaRPr lang="en-US" sz="1600" dirty="0"/>
          </a:p>
        </p:txBody>
      </p:sp>
      <p:sp>
        <p:nvSpPr>
          <p:cNvPr id="20" name="Guideline text 6"/>
          <p:cNvSpPr txBox="1"/>
          <p:nvPr/>
        </p:nvSpPr>
        <p:spPr>
          <a:xfrm>
            <a:off x="6199632" y="3493008"/>
            <a:ext cx="233172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Hold downstream logic in reset until lock, allow 5 µs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bg1"/>
                </a:solidFill>
              </a:rPr>
              <a:t>Conclusion and limitations</a:t>
            </a:r>
            <a:endParaRPr lang="en-US" sz="2800" dirty="0"/>
          </a:p>
        </p:txBody>
      </p:sp>
      <p:sp>
        <p:nvSpPr>
          <p:cNvPr id="3" name="Findings heading"/>
          <p:cNvSpPr txBox="1"/>
          <p:nvPr/>
        </p:nvSpPr>
        <p:spPr>
          <a:xfrm>
            <a:off x="457200" y="1143000"/>
            <a:ext cx="3931920" cy="365760"/>
          </a:xfrm>
          <a:prstGeom prst="rect">
            <a:avLst/>
          </a:prstGeom>
          <a:noFill/>
          <a:ln/>
        </p:spPr>
        <p:txBody>
          <a:bodyPr wrap="square" lIns="0" tIns="0" rIns="0" bIns="0" rtlCol="0" anchor="t"/>
          <a:lstStyle/>
          <a:p>
            <a:pPr indent="0" marL="0">
              <a:buNone/>
            </a:pPr>
            <a:r>
              <a:rPr lang="en-US" sz="1800" b="1" dirty="0">
                <a:solidFill>
                  <a:schemeClr val="accent4"/>
                </a:solidFill>
                <a:latin typeface="Cambria" pitchFamily="34" charset="0"/>
                <a:ea typeface="Cambria" pitchFamily="34" charset="-122"/>
                <a:cs typeface="Cambria" pitchFamily="34" charset="-120"/>
              </a:rPr>
              <a:t>What we found</a:t>
            </a:r>
            <a:endParaRPr lang="en-US" sz="1800" dirty="0"/>
          </a:p>
        </p:txBody>
      </p:sp>
      <p:sp>
        <p:nvSpPr>
          <p:cNvPr id="4" name="Findings bullets"/>
          <p:cNvSpPr txBox="1"/>
          <p:nvPr/>
        </p:nvSpPr>
        <p:spPr>
          <a:xfrm>
            <a:off x="457200" y="1645920"/>
            <a:ext cx="393192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Baseline PLL locks in about 3 µs and recovers from disturbances in about 1.5 µs</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Lock time scales as 1 / bandwidth</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Damping 0.7 to 1.0 balances speed and stability</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Jitter is lowest near 640 kHz</a:t>
            </a:r>
            <a:endParaRPr lang="en-US" sz="1600" dirty="0"/>
          </a:p>
        </p:txBody>
      </p:sp>
      <p:sp>
        <p:nvSpPr>
          <p:cNvPr id="5" name="Limitations heading"/>
          <p:cNvSpPr txBox="1"/>
          <p:nvPr/>
        </p:nvSpPr>
        <p:spPr>
          <a:xfrm>
            <a:off x="4754880" y="1143000"/>
            <a:ext cx="3931920" cy="365760"/>
          </a:xfrm>
          <a:prstGeom prst="rect">
            <a:avLst/>
          </a:prstGeom>
          <a:noFill/>
          <a:ln/>
        </p:spPr>
        <p:txBody>
          <a:bodyPr wrap="square" lIns="0" tIns="0" rIns="0" bIns="0" rtlCol="0" anchor="t"/>
          <a:lstStyle/>
          <a:p>
            <a:pPr indent="0" marL="0">
              <a:buNone/>
            </a:pPr>
            <a:r>
              <a:rPr lang="en-US" sz="1800" b="1" dirty="0">
                <a:solidFill>
                  <a:schemeClr val="accent4"/>
                </a:solidFill>
                <a:latin typeface="Cambria" pitchFamily="34" charset="0"/>
                <a:ea typeface="Cambria" pitchFamily="34" charset="-122"/>
                <a:cs typeface="Cambria" pitchFamily="34" charset="-120"/>
              </a:rPr>
              <a:t>Limitations</a:t>
            </a:r>
            <a:endParaRPr lang="en-US" sz="1800" dirty="0"/>
          </a:p>
        </p:txBody>
      </p:sp>
      <p:sp>
        <p:nvSpPr>
          <p:cNvPr id="6" name="Limitations bullets"/>
          <p:cNvSpPr txBox="1"/>
          <p:nvPr/>
        </p:nvSpPr>
        <p:spPr>
          <a:xfrm>
            <a:off x="4754880" y="1645920"/>
            <a:ext cx="393192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Ideal charge pump: no leakage or mismatch</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Linear behavioral VCO, integer-N only</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Second-order loop; no ripple filter</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Assumed noise levels; no process corners</a:t>
            </a:r>
            <a:endParaRPr lang="en-US" sz="1600" dirty="0"/>
          </a:p>
        </p:txBody>
      </p:sp>
    </p:spTree>
  </p:cSld>
  <p:clrMapOvr>
    <a:masterClrMapping/>
  </p:clrMapOvr>
</p:sld>
</file>

<file path=ppt/theme/theme1.xml><?xml version="1.0" encoding="utf-8"?>
<a:theme xmlns:a="http://schemas.openxmlformats.org/drawingml/2006/main" name="AnalogEdge">
  <a:themeElements>
    <a:clrScheme name="AnalogEdge">
      <a:dk1>
        <a:srgbClr val="1B2430"/>
      </a:dk1>
      <a:lt1>
        <a:srgbClr val="FFFFFF"/>
      </a:lt1>
      <a:dk2>
        <a:srgbClr val="14325C"/>
      </a:dk2>
      <a:lt2>
        <a:srgbClr val="EAF2F5"/>
      </a:lt2>
      <a:accent1>
        <a:srgbClr val="0E7C86"/>
      </a:accent1>
      <a:accent2>
        <a:srgbClr val="E8A33D"/>
      </a:accent2>
      <a:accent3>
        <a:srgbClr val="14325C"/>
      </a:accent3>
      <a:accent4>
        <a:srgbClr val="6FA8B0"/>
      </a:accent4>
      <a:accent5>
        <a:srgbClr val="8FA3B8"/>
      </a:accent5>
      <a:accent6>
        <a:srgbClr val="3E7CB1"/>
      </a:accent6>
      <a:hlink>
        <a:srgbClr val="0E7C86"/>
      </a:hlink>
      <a:folHlink>
        <a:srgbClr val="6FA8B0"/>
      </a:folHlink>
    </a:clrScheme>
    <a:fontScheme name="AnalogEd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AnalogEdge - PLL Behavioral Modeling and Verification</dc:title>
  <dc:subject>PptxGenJS Presentation</dc:subject>
  <dc:creator>PptxGenJS</dc:creator>
  <cp:lastModifiedBy>PptxGenJS</cp:lastModifiedBy>
  <cp:revision>1</cp:revision>
  <dcterms:created xsi:type="dcterms:W3CDTF">2026-10-30T07:58:41Z</dcterms:created>
  <dcterms:modified xsi:type="dcterms:W3CDTF">2026-10-30T07:58:41Z</dcterms:modified>
</cp:coreProperties>
</file>